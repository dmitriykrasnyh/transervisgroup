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Montserrat" panose="020B0604020202020204" charset="-52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92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452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56755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Экономический расчет разработки информационного приложения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3203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Полный анализ себестоимости и ценообразования для проекта «Транссервисгрупп». Детальный расчет всех статей затрат и формирование итоговой стоимости.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76213" y="6175891"/>
            <a:ext cx="187797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E5DCE6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Студент гр.  ИП – 121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ru-RU" sz="2200" b="1" dirty="0">
                <a:solidFill>
                  <a:srgbClr val="E5DCE6"/>
                </a:solidFill>
                <a:ea typeface="Montserrat Bold" pitchFamily="34" charset="-122"/>
              </a:rPr>
              <a:t>Зимянин А. А.</a:t>
            </a:r>
            <a:endParaRPr lang="en-US" sz="22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F009F54-7455-4FCF-B2EF-1EDBA4B08016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5636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Структура полной себестоимости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1140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7017306" y="319194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Основные компоненты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017306" y="4036695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Материалы, зарплата, страховые взносы, энергозатраты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200203" y="311408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10937319" y="3191947"/>
            <a:ext cx="28994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Эксплуатационные расходы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37319" y="4036695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Содержание оборудования и общехозяйственные затраты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94193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7017306" y="6019800"/>
            <a:ext cx="356473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Коммерческие расходы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017306" y="651021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Внепроизводственные затраты на сбыт продукции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554B8C7-64DC-474B-ACDA-87D333ADFA31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93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Трудозатраты по этапам разработки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2450783"/>
            <a:ext cx="30480" cy="5085636"/>
          </a:xfrm>
          <a:prstGeom prst="roundRect">
            <a:avLst>
              <a:gd name="adj" fmla="val 312558"/>
            </a:avLst>
          </a:prstGeom>
          <a:solidFill>
            <a:srgbClr val="414677"/>
          </a:solidFill>
          <a:ln/>
        </p:spPr>
      </p:sp>
      <p:sp>
        <p:nvSpPr>
          <p:cNvPr id="5" name="Shape 2"/>
          <p:cNvSpPr/>
          <p:nvPr/>
        </p:nvSpPr>
        <p:spPr>
          <a:xfrm>
            <a:off x="1273612" y="2690693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414677"/>
          </a:solidFill>
          <a:ln/>
        </p:spPr>
      </p:sp>
      <p:sp>
        <p:nvSpPr>
          <p:cNvPr id="6" name="Shape 3"/>
          <p:cNvSpPr/>
          <p:nvPr/>
        </p:nvSpPr>
        <p:spPr>
          <a:xfrm>
            <a:off x="793790" y="245078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7" name="Text 4"/>
          <p:cNvSpPr/>
          <p:nvPr/>
        </p:nvSpPr>
        <p:spPr>
          <a:xfrm>
            <a:off x="878860" y="249328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183011" y="2528649"/>
            <a:ext cx="288905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Постановка задачи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183011" y="3019068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часа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73612" y="4075509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414677"/>
          </a:solidFill>
          <a:ln/>
        </p:spPr>
      </p:sp>
      <p:sp>
        <p:nvSpPr>
          <p:cNvPr id="11" name="Shape 8"/>
          <p:cNvSpPr/>
          <p:nvPr/>
        </p:nvSpPr>
        <p:spPr>
          <a:xfrm>
            <a:off x="793790" y="383559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2" name="Text 9"/>
          <p:cNvSpPr/>
          <p:nvPr/>
        </p:nvSpPr>
        <p:spPr>
          <a:xfrm>
            <a:off x="878860" y="38781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183011" y="3913465"/>
            <a:ext cx="39354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Анализ и проектирование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183011" y="4403884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часов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73612" y="5460325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414677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90" y="522041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7" name="Text 14"/>
          <p:cNvSpPr/>
          <p:nvPr/>
        </p:nvSpPr>
        <p:spPr>
          <a:xfrm>
            <a:off x="878860" y="526292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183011" y="5298281"/>
            <a:ext cx="4136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Разработка и тестирование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183011" y="5788700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 часов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273612" y="6845141"/>
            <a:ext cx="680442" cy="30480"/>
          </a:xfrm>
          <a:prstGeom prst="roundRect">
            <a:avLst>
              <a:gd name="adj" fmla="val 312558"/>
            </a:avLst>
          </a:prstGeom>
          <a:solidFill>
            <a:srgbClr val="414677"/>
          </a:solidFill>
          <a:ln/>
        </p:spPr>
      </p:sp>
      <p:sp>
        <p:nvSpPr>
          <p:cNvPr id="21" name="Shape 18"/>
          <p:cNvSpPr/>
          <p:nvPr/>
        </p:nvSpPr>
        <p:spPr>
          <a:xfrm>
            <a:off x="793790" y="660523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22" name="Text 19"/>
          <p:cNvSpPr/>
          <p:nvPr/>
        </p:nvSpPr>
        <p:spPr>
          <a:xfrm>
            <a:off x="878860" y="664773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2183011" y="6683097"/>
            <a:ext cx="341030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Документация и сдача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183011" y="7173516"/>
            <a:ext cx="61671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часов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76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173022"/>
            <a:ext cx="1173384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Расходные материалы и оборудование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221962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448776"/>
            <a:ext cx="329934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Канцелярские товары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Бумага А4 (75 листов) - 60 руб. Папка для проекта - 170 руб.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221962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Печатные услуги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Распечатка А3 - 50 руб. Тонер для картриджа - 11,25 руб.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221962"/>
            <a:ext cx="4196358" cy="1669852"/>
          </a:xfrm>
          <a:prstGeom prst="roundRect">
            <a:avLst>
              <a:gd name="adj" fmla="val 5705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448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Носители данных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939195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Диск DVD-RW - 60 руб. Общая сумма материалов - 351,25 руб.</a:t>
            </a:r>
            <a:endParaRPr lang="en-US" sz="17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3D0B983B-34CC-4377-94DC-A7AAF376BAD7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49816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155" y="2902625"/>
            <a:ext cx="6417350" cy="594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Расчет заработной платы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6155" y="3878104"/>
            <a:ext cx="650628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227,27</a:t>
            </a:r>
            <a:endParaRPr lang="en-US" sz="4900" dirty="0"/>
          </a:p>
        </p:txBody>
      </p:sp>
      <p:sp>
        <p:nvSpPr>
          <p:cNvPr id="5" name="Text 2"/>
          <p:cNvSpPr/>
          <p:nvPr/>
        </p:nvSpPr>
        <p:spPr>
          <a:xfrm>
            <a:off x="2729627" y="4744045"/>
            <a:ext cx="2379226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Ставка за час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6155" y="5155525"/>
            <a:ext cx="650628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Рублей в час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457956" y="3878104"/>
            <a:ext cx="650628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62</a:t>
            </a:r>
            <a:endParaRPr lang="en-US" sz="4900" dirty="0"/>
          </a:p>
        </p:txBody>
      </p:sp>
      <p:sp>
        <p:nvSpPr>
          <p:cNvPr id="8" name="Text 5"/>
          <p:cNvSpPr/>
          <p:nvPr/>
        </p:nvSpPr>
        <p:spPr>
          <a:xfrm>
            <a:off x="9377124" y="4744045"/>
            <a:ext cx="266795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Общая трудоемкость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57956" y="5155525"/>
            <a:ext cx="650628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Часов работы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6155" y="6126242"/>
            <a:ext cx="650628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14 091</a:t>
            </a:r>
            <a:endParaRPr lang="en-US" sz="4900" dirty="0"/>
          </a:p>
        </p:txBody>
      </p:sp>
      <p:sp>
        <p:nvSpPr>
          <p:cNvPr id="11" name="Text 8"/>
          <p:cNvSpPr/>
          <p:nvPr/>
        </p:nvSpPr>
        <p:spPr>
          <a:xfrm>
            <a:off x="2711648" y="6992183"/>
            <a:ext cx="2415183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Основная зарплата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6155" y="7403663"/>
            <a:ext cx="650628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Рублей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457956" y="6126242"/>
            <a:ext cx="6506289" cy="628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00"/>
              </a:lnSpc>
              <a:buNone/>
            </a:pPr>
            <a:r>
              <a:rPr lang="en-US" sz="49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16 204</a:t>
            </a:r>
            <a:endParaRPr lang="en-US" sz="4900" dirty="0"/>
          </a:p>
        </p:txBody>
      </p:sp>
      <p:sp>
        <p:nvSpPr>
          <p:cNvPr id="14" name="Text 11"/>
          <p:cNvSpPr/>
          <p:nvPr/>
        </p:nvSpPr>
        <p:spPr>
          <a:xfrm>
            <a:off x="9521428" y="6992183"/>
            <a:ext cx="2379226" cy="297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 премией 15%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7457956" y="7403663"/>
            <a:ext cx="6506289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4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Рублей</a:t>
            </a:r>
            <a:endParaRPr lang="en-US" sz="14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8120902-EA23-4454-9F6F-9DE40D7EEEC8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62795"/>
            <a:ext cx="94654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Дополнительные статьи затрат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8550"/>
            <a:ext cx="30272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Социальные взносы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969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Дополнительная зарплата - 2 114 руб. Страховые взносы 30% - 4 861 руб.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8550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Эксплуатационные расходы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574024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Энергозатраты - 188 руб. Амортизация оборудования - 348 руб.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8550"/>
            <a:ext cx="31486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Общехозяйственные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9694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110% от основной зарплаты. Составляют 17 550 рублей.</a:t>
            </a:r>
            <a:endParaRPr lang="en-US" sz="175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4C8275B-DB44-4FAB-9C1E-5EC5E5237E7D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9473" y="608409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Формирование итоговой стоимости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2320052"/>
            <a:ext cx="1104424" cy="13252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95128" y="2540913"/>
            <a:ext cx="499121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Производственная себестоимость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7695128" y="3018473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39 303 рубля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3645337"/>
            <a:ext cx="1104424" cy="13252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5128" y="3866198"/>
            <a:ext cx="3976330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Коммерческие расходы 2%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7695128" y="4343757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786 рублей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9473" y="4970621"/>
            <a:ext cx="1104424" cy="13252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95128" y="5191482"/>
            <a:ext cx="330088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Полная себестоимость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7695128" y="5669042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40 089 рублей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9473" y="6295906"/>
            <a:ext cx="1104424" cy="132528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95128" y="6516767"/>
            <a:ext cx="4248269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Цена с рентабельностью 25%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7695128" y="6994327"/>
            <a:ext cx="6162199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50 111 рублей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3AA35B5-26F3-46A4-A886-E56F5899D04D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819"/>
            <a:ext cx="104532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Итоговые финансовые показатели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12456" y="6031349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0631" y="4443174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2</a:t>
            </a:r>
            <a:endParaRPr lang="en-US" sz="3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46745" y="4443174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3</a:t>
            </a:r>
            <a:endParaRPr lang="en-US" sz="3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2330" y="3480911"/>
            <a:ext cx="7825621" cy="7825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34920" y="6031349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5"/>
          <p:cNvSpPr/>
          <p:nvPr/>
        </p:nvSpPr>
        <p:spPr>
          <a:xfrm>
            <a:off x="793790" y="3268861"/>
            <a:ext cx="30054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Полная себестоимость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93790" y="4113609"/>
            <a:ext cx="30054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40 089 рублей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4139446" y="1998226"/>
            <a:ext cx="300561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Планируемая прибыль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4139446" y="2842974"/>
            <a:ext cx="30056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10 022 рубля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8255794" y="2352556"/>
            <a:ext cx="14644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НДС 20%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8255794" y="2842974"/>
            <a:ext cx="14644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10 022 рубля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1153537" y="3623191"/>
            <a:ext cx="2360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Отпускная цена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1153537" y="4113609"/>
            <a:ext cx="23605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60 133 рубля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8E6034B-26E5-440B-8CA6-E5A89EC3C164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AAED13B-D846-4C3B-A739-FF9BAEF045A3}"/>
              </a:ext>
            </a:extLst>
          </p:cNvPr>
          <p:cNvSpPr/>
          <p:nvPr/>
        </p:nvSpPr>
        <p:spPr>
          <a:xfrm>
            <a:off x="12801600" y="7708106"/>
            <a:ext cx="1828800" cy="521494"/>
          </a:xfrm>
          <a:prstGeom prst="rect">
            <a:avLst/>
          </a:prstGeom>
          <a:solidFill>
            <a:srgbClr val="090E3F"/>
          </a:solidFill>
          <a:ln>
            <a:solidFill>
              <a:srgbClr val="090E3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1894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279</Words>
  <Application>Microsoft Office PowerPoint</Application>
  <PresentationFormat>Произвольный</PresentationFormat>
  <Paragraphs>81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Montserrat Bold</vt:lpstr>
      <vt:lpstr>Bricolage Grotesque Extra Bold</vt:lpstr>
      <vt:lpstr>Montserrat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3ton</cp:lastModifiedBy>
  <cp:revision>2</cp:revision>
  <dcterms:created xsi:type="dcterms:W3CDTF">2025-05-25T00:34:44Z</dcterms:created>
  <dcterms:modified xsi:type="dcterms:W3CDTF">2025-05-25T00:36:52Z</dcterms:modified>
</cp:coreProperties>
</file>